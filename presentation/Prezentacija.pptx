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5" r:id="rId9"/>
    <p:sldId id="266" r:id="rId10"/>
    <p:sldId id="267" r:id="rId11"/>
    <p:sldId id="268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02" autoAdjust="0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6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Pozdrav, ja sam Namik Jamak. Predstavicu vam projekat: GUI aplikaciju za modelovanje trofazne nesimetricne distributivne mreze, razvijenu u natID C++ frameworku. (5 sekundi)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Cetiri glavna cilja: katalog opreme, graficko kreiranje topologije, pravi trofazni ABC model umjesto pojednostavljenog jednofaznog, i matematicki model kroz matricu incidencije i Ybus. (20 sekundi)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 modula: CatalogModel za tipove opreme, network za topologiju i matematicki model, i gui sloj koji ih povezuje kroz dva taba koja dijele isti katalog. (20 sekundi)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Prvi tab aplikacije - unos kataloga. Vidite formu za unos vodova i transformatora, sa CSV cuvanjem i test dugmetom za brzu provjeru Ybus proracuna. (20 sekundi)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Drugi tab - graficko kreiranje mreze. Klikom postavljam sabirnice, biram tip grane iz kataloga i povezujem cvorove. natID gui::Canvas i gotovi simboli (bus, Xfmr2) iz Common/Symbols/PSA biblioteke. (25 sekundi)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Za svaku granu racunamo seriju admitansu iz R1,X1, i standardnom formulom punimo Ybus matricu. Matrica incidencije koristi dense::DblMatrix, a Ybus sparse::ICmplxMatrix preko addTriple poziva. Ovo je jednofazni ekvivalent, provjera prije prelaska na trofazni model. (25 sekundi)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Ovo je srz projekta - pravi trofazni model. Svaki cvor sada ima tri faze, pa Ybus postaje 3N puta 3N, sastavljena od ovakvih 3 puta 3 blokova. Impedansu izvodimo iz direktne i nulte sekvence koje vec imamo u katalogu, standardnom formulom simetricnih komponenti. Kada je vod simetrican, faze se razdvajaju - nesimetrija tada dolazi od neravnomjernog opterecenja po fazama. (35 sekundi)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Graficki prikaz koristi natID OpenDraw mehanizam - gui::Canvas, gui::Shape za linije i gotove gui::Symbol resurse za sabirnicu i transformator direktno iz natID biblioteke elektroenergetskih simbola. (20 sekundi)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Sada cu vam pokazati aplikaciju uzivo: dodajem tip voda i transformatora u katalog, prelazim na tab mreza, postavljam tri cvora klikom, povezujem ih vodom i transformatorom, i na kraju prikazujem stvarno izgradjenu trofaznu Ybus matricu. (90 sekundi - ziva demonstracija)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rezimiram - uradili smo katalog, interaktivnu topologiju i pravi trofazni model sa natID dense/sparse matricama. Dalji koraci su proracun tokova snage i preciznije modelovanje transformatora po grupi spoja. (20 sekundi)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Hvala na paznji, spreman sam za pitanja.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-1463040"/>
            <a:ext cx="4572000" cy="4572000"/>
          </a:xfrm>
          <a:prstGeom prst="ellipse">
            <a:avLst/>
          </a:prstGeom>
          <a:solidFill>
            <a:srgbClr val="1C2E5C"/>
          </a:solidFill>
        </p:spPr>
      </p:sp>
      <p:sp>
        <p:nvSpPr>
          <p:cNvPr id="3" name="Shape 1"/>
          <p:cNvSpPr/>
          <p:nvPr/>
        </p:nvSpPr>
        <p:spPr>
          <a:xfrm>
            <a:off x="10362895" y="4480560"/>
            <a:ext cx="3291840" cy="3291840"/>
          </a:xfrm>
          <a:prstGeom prst="ellipse">
            <a:avLst/>
          </a:prstGeom>
          <a:solidFill>
            <a:srgbClr val="0E7C86">
              <a:alpha val="22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822960" y="822960"/>
            <a:ext cx="822960" cy="822960"/>
          </a:xfrm>
          <a:prstGeom prst="ellipse">
            <a:avLst/>
          </a:prstGeom>
          <a:solidFill>
            <a:srgbClr val="F2A93B"/>
          </a:solidFill>
        </p:spPr>
      </p:sp>
      <p:pic>
        <p:nvPicPr>
          <p:cNvPr id="5" name="Image 0" descr="/home/claude/pptx/icon_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470" y="1020470"/>
            <a:ext cx="427939" cy="4279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94560"/>
            <a:ext cx="987552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GUI aplikacija za modelovanje</a:t>
            </a:r>
            <a:endParaRPr lang="en-US" sz="34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trofazne nesimetrične distributivne mreže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22960" y="3977640"/>
            <a:ext cx="96926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9C6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Katalog opreme  •  Topologija mreže  •  Trofazna Ybus matrica  •  natID framework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68680" y="4709160"/>
            <a:ext cx="2743200" cy="0"/>
          </a:xfrm>
          <a:prstGeom prst="line">
            <a:avLst/>
          </a:prstGeom>
          <a:noFill/>
          <a:ln w="25400">
            <a:solidFill>
              <a:srgbClr val="12A5A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4937760"/>
            <a:ext cx="82296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D7DE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Namik Jamak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7DE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SREES 2026 — Projekat iz predmeta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7DE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Repozitorij: SREES_2026_Jamak_GUIaplikacija_DNM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0E7C86"/>
          </a:solidFill>
        </p:spPr>
      </p:sp>
      <p:pic>
        <p:nvPicPr>
          <p:cNvPr id="3" name="Image 0" descr="/home/claude/pptx/icon_bullse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38912"/>
            <a:ext cx="10180015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13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Cilj projekta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50749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1581912"/>
            <a:ext cx="45262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B3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Katalog opreme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2039112"/>
            <a:ext cx="452628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Unos i čuvanje tipova vodova i transformatora sa realnim tehničkim parametrima.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080760" y="1417320"/>
            <a:ext cx="50749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355080" y="1581912"/>
            <a:ext cx="45262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B3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Topologija mreže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355080" y="2039112"/>
            <a:ext cx="452628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Grafičko kreiranje mreže — čvorovi i grane, klikom miša na platnu.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50749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2960" y="3593592"/>
            <a:ext cx="45262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B3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Trofazni model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22960" y="4050792"/>
            <a:ext cx="452628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Pravi ABC (fazni) model — ne pojednostavljeni jednofazni ekvivalent.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080760" y="3429000"/>
            <a:ext cx="50749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355080" y="3593592"/>
            <a:ext cx="45262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B3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Matematički model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355080" y="4050792"/>
            <a:ext cx="452628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Matrica incidencije i </a:t>
            </a:r>
            <a:r>
              <a:rPr lang="en-US" sz="1350" dirty="0" err="1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Ybus</a:t>
            </a:r>
            <a:r>
              <a:rPr lang="en-US" sz="135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1350" dirty="0" err="1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admitan</a:t>
            </a:r>
            <a:r>
              <a:rPr lang="hr-HR" sz="135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</a:t>
            </a:r>
            <a:r>
              <a:rPr lang="en-US" sz="1350" dirty="0" err="1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na</a:t>
            </a:r>
            <a:r>
              <a:rPr lang="en-US" sz="135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1350" dirty="0" err="1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matrica</a:t>
            </a:r>
            <a:r>
              <a:rPr lang="hr-HR" sz="135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.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SREES 2026 — Distribution Network Modeler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F2A93B"/>
          </a:solidFill>
        </p:spPr>
      </p:sp>
      <p:pic>
        <p:nvPicPr>
          <p:cNvPr id="3" name="Image 0" descr="/home/claude/pptx/icon_site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38912"/>
            <a:ext cx="10180015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13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Arhitektura sistema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85800" y="1691640"/>
            <a:ext cx="34290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691640"/>
            <a:ext cx="3429000" cy="594360"/>
          </a:xfrm>
          <a:prstGeom prst="roundRect">
            <a:avLst>
              <a:gd name="adj" fmla="val 13846"/>
            </a:avLst>
          </a:prstGeom>
          <a:solidFill>
            <a:srgbClr val="0E7C86"/>
          </a:solidFill>
        </p:spPr>
      </p:sp>
      <p:sp>
        <p:nvSpPr>
          <p:cNvPr id="7" name="Shape 4"/>
          <p:cNvSpPr/>
          <p:nvPr/>
        </p:nvSpPr>
        <p:spPr>
          <a:xfrm>
            <a:off x="685800" y="2011680"/>
            <a:ext cx="3429000" cy="274320"/>
          </a:xfrm>
          <a:prstGeom prst="rect">
            <a:avLst/>
          </a:prstGeom>
          <a:solidFill>
            <a:srgbClr val="0E7C86"/>
          </a:solidFill>
        </p:spPr>
      </p:sp>
      <p:sp>
        <p:nvSpPr>
          <p:cNvPr id="8" name="Text 5"/>
          <p:cNvSpPr/>
          <p:nvPr/>
        </p:nvSpPr>
        <p:spPr>
          <a:xfrm>
            <a:off x="868680" y="1691640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CatalogModel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68680" y="2468880"/>
            <a:ext cx="306324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LineType · TransformerType · EquipmentCatalog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133088" y="2724912"/>
            <a:ext cx="292608" cy="219456"/>
          </a:xfrm>
          <a:prstGeom prst="rightArrow">
            <a:avLst/>
          </a:prstGeom>
          <a:solidFill>
            <a:srgbClr val="5B6B82"/>
          </a:solidFill>
        </p:spPr>
      </p:sp>
      <p:sp>
        <p:nvSpPr>
          <p:cNvPr id="11" name="Shape 8"/>
          <p:cNvSpPr/>
          <p:nvPr/>
        </p:nvSpPr>
        <p:spPr>
          <a:xfrm>
            <a:off x="4434840" y="1691640"/>
            <a:ext cx="34290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434840" y="1691640"/>
            <a:ext cx="3429000" cy="594360"/>
          </a:xfrm>
          <a:prstGeom prst="roundRect">
            <a:avLst>
              <a:gd name="adj" fmla="val 13846"/>
            </a:avLst>
          </a:prstGeom>
          <a:solidFill>
            <a:srgbClr val="1C2E5C"/>
          </a:solidFill>
        </p:spPr>
      </p:sp>
      <p:sp>
        <p:nvSpPr>
          <p:cNvPr id="13" name="Shape 10"/>
          <p:cNvSpPr/>
          <p:nvPr/>
        </p:nvSpPr>
        <p:spPr>
          <a:xfrm>
            <a:off x="4434840" y="2011680"/>
            <a:ext cx="3429000" cy="274320"/>
          </a:xfrm>
          <a:prstGeom prst="rect">
            <a:avLst/>
          </a:prstGeom>
          <a:solidFill>
            <a:srgbClr val="1C2E5C"/>
          </a:solidFill>
        </p:spPr>
      </p:sp>
      <p:sp>
        <p:nvSpPr>
          <p:cNvPr id="14" name="Text 11"/>
          <p:cNvSpPr/>
          <p:nvPr/>
        </p:nvSpPr>
        <p:spPr>
          <a:xfrm>
            <a:off x="4617720" y="1691640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network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617720" y="2468880"/>
            <a:ext cx="306324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Node · Branch · Network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882128" y="2724912"/>
            <a:ext cx="292608" cy="219456"/>
          </a:xfrm>
          <a:prstGeom prst="rightArrow">
            <a:avLst/>
          </a:prstGeom>
          <a:solidFill>
            <a:srgbClr val="5B6B82"/>
          </a:solidFill>
        </p:spPr>
      </p:sp>
      <p:sp>
        <p:nvSpPr>
          <p:cNvPr id="17" name="Shape 14"/>
          <p:cNvSpPr/>
          <p:nvPr/>
        </p:nvSpPr>
        <p:spPr>
          <a:xfrm>
            <a:off x="8183880" y="1691640"/>
            <a:ext cx="34290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83880" y="1691640"/>
            <a:ext cx="3429000" cy="594360"/>
          </a:xfrm>
          <a:prstGeom prst="roundRect">
            <a:avLst>
              <a:gd name="adj" fmla="val 13846"/>
            </a:avLst>
          </a:prstGeom>
          <a:solidFill>
            <a:srgbClr val="F2A93B"/>
          </a:solidFill>
        </p:spPr>
      </p:sp>
      <p:sp>
        <p:nvSpPr>
          <p:cNvPr id="19" name="Shape 16"/>
          <p:cNvSpPr/>
          <p:nvPr/>
        </p:nvSpPr>
        <p:spPr>
          <a:xfrm>
            <a:off x="8183880" y="2011680"/>
            <a:ext cx="3429000" cy="274320"/>
          </a:xfrm>
          <a:prstGeom prst="rect">
            <a:avLst/>
          </a:prstGeom>
          <a:solidFill>
            <a:srgbClr val="F2A93B"/>
          </a:solidFill>
        </p:spPr>
      </p:sp>
      <p:sp>
        <p:nvSpPr>
          <p:cNvPr id="20" name="Text 17"/>
          <p:cNvSpPr/>
          <p:nvPr/>
        </p:nvSpPr>
        <p:spPr>
          <a:xfrm>
            <a:off x="8366760" y="1691640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gui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8366760" y="2468880"/>
            <a:ext cx="306324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Application · MainWindow · ViewCatalog · ViewNetworkPanel/Canvas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85800" y="4297680"/>
            <a:ext cx="106070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Katalog i mreža dijele istu instancu EquipmentCatalog (po referenci) — GUI oba modula gradi na istim podacima.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SREES 2026 — Distribution Network Modeler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0E7C86"/>
          </a:solidFill>
        </p:spPr>
      </p:sp>
      <p:pic>
        <p:nvPicPr>
          <p:cNvPr id="3" name="Image 0" descr="/home/claude/pptx/icon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38912"/>
            <a:ext cx="10180015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13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Katalog opreme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623560" y="1600200"/>
            <a:ext cx="6181344" cy="3121945"/>
          </a:xfrm>
          <a:prstGeom prst="roundRect">
            <a:avLst>
              <a:gd name="adj" fmla="val 1464"/>
            </a:avLst>
          </a:prstGeom>
          <a:solidFill>
            <a:srgbClr val="FFFFFF"/>
          </a:solidFill>
          <a:effectLst>
            <a:outerShdw blurRad="127000" dist="38100" dir="5400000" algn="bl" rotWithShape="0">
              <a:srgbClr val="1B2A4A">
                <a:alpha val="18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548640" y="1600200"/>
            <a:ext cx="4846320" cy="4114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F1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LineType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R1, X1, B1 (direktna sekvenca), R0, X0 (nulta sekvenca), Irated, Urated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60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F1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TransformerType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Sn, Up, Us, Uk, gubici (Pcu, Pfe), grupa spoja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60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F1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EquipmentCatalog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CRUD operacije + snimanje/učitavanje u CSV formatu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SREES 2026 — Distribution Network Modeler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1000" dirty="0"/>
          </a:p>
        </p:txBody>
      </p:sp>
      <p:pic>
        <p:nvPicPr>
          <p:cNvPr id="11" name="Slika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314450"/>
            <a:ext cx="6349088" cy="3638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0F1B3C"/>
          </a:solidFill>
        </p:spPr>
      </p:sp>
      <p:pic>
        <p:nvPicPr>
          <p:cNvPr id="3" name="Image 0" descr="/home/claude/pptx/icon_proj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38912"/>
            <a:ext cx="10180015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13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Topologija mreže — interaktivno platno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394960" y="1737360"/>
            <a:ext cx="6455664" cy="2932316"/>
          </a:xfrm>
          <a:prstGeom prst="roundRect">
            <a:avLst>
              <a:gd name="adj" fmla="val 1559"/>
            </a:avLst>
          </a:prstGeom>
          <a:solidFill>
            <a:srgbClr val="FFFFFF"/>
          </a:solidFill>
          <a:effectLst>
            <a:outerShdw blurRad="127000" dist="38100" dir="5400000" algn="bl" rotWithShape="0">
              <a:srgbClr val="1B2A4A">
                <a:alpha val="18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548640" y="1691640"/>
            <a:ext cx="329184" cy="329184"/>
          </a:xfrm>
          <a:prstGeom prst="ellipse">
            <a:avLst/>
          </a:prstGeom>
          <a:solidFill>
            <a:srgbClr val="0E7C86"/>
          </a:solidFill>
        </p:spPr>
      </p:sp>
      <p:sp>
        <p:nvSpPr>
          <p:cNvPr id="8" name="Text 4"/>
          <p:cNvSpPr/>
          <p:nvPr/>
        </p:nvSpPr>
        <p:spPr>
          <a:xfrm>
            <a:off x="548640" y="1691640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005840" y="1673352"/>
            <a:ext cx="41605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Dodaj čvor — klik na platno postavlja sabirnicu (bus simbol)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2350008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1" name="Text 7"/>
          <p:cNvSpPr/>
          <p:nvPr/>
        </p:nvSpPr>
        <p:spPr>
          <a:xfrm>
            <a:off x="548640" y="2350008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05840" y="2331720"/>
            <a:ext cx="41605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Poveži granom — odabir tipa iz kataloga, pa klik na dva čvora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3008376"/>
            <a:ext cx="329184" cy="329184"/>
          </a:xfrm>
          <a:prstGeom prst="ellipse">
            <a:avLst/>
          </a:prstGeom>
          <a:solidFill>
            <a:srgbClr val="0E7C86"/>
          </a:solidFill>
        </p:spPr>
      </p:sp>
      <p:sp>
        <p:nvSpPr>
          <p:cNvPr id="14" name="Text 10"/>
          <p:cNvSpPr/>
          <p:nvPr/>
        </p:nvSpPr>
        <p:spPr>
          <a:xfrm>
            <a:off x="548640" y="3008376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005840" y="2990088"/>
            <a:ext cx="41605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Vod = plava linija · Transformator = simbol + isprekidana linija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3666744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7" name="Text 13"/>
          <p:cNvSpPr/>
          <p:nvPr/>
        </p:nvSpPr>
        <p:spPr>
          <a:xfrm>
            <a:off x="548640" y="3666744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1005840" y="3648456"/>
            <a:ext cx="41605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Prikaži Ybus — gradi maticu iz stvarno nacrtane mreže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SREES 2026 — Distribution Network Modeler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1000" dirty="0"/>
          </a:p>
        </p:txBody>
      </p:sp>
      <p:pic>
        <p:nvPicPr>
          <p:cNvPr id="22" name="Slika 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9010" y="1737360"/>
            <a:ext cx="5328285" cy="29323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0E7C86"/>
          </a:solidFill>
        </p:spPr>
      </p:sp>
      <p:pic>
        <p:nvPicPr>
          <p:cNvPr id="3" name="Image 0" descr="/home/claude/pptx/icon_sq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38912"/>
            <a:ext cx="10180015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13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Matematički model — matrica incidencije i Ybus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389888" y="2487168"/>
            <a:ext cx="1243584" cy="0"/>
          </a:xfrm>
          <a:prstGeom prst="line">
            <a:avLst/>
          </a:prstGeom>
          <a:noFill/>
          <a:ln w="31750">
            <a:solidFill>
              <a:srgbClr val="1C2E5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401568" y="2487168"/>
            <a:ext cx="1243584" cy="0"/>
          </a:xfrm>
          <a:prstGeom prst="line">
            <a:avLst/>
          </a:prstGeom>
          <a:noFill/>
          <a:ln w="31750">
            <a:solidFill>
              <a:srgbClr val="F2A93B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1005840" y="2103120"/>
            <a:ext cx="768096" cy="768096"/>
          </a:xfrm>
          <a:prstGeom prst="ellipse">
            <a:avLst/>
          </a:prstGeom>
          <a:solidFill>
            <a:srgbClr val="0F1B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2103120"/>
            <a:ext cx="768096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017520" y="2103120"/>
            <a:ext cx="768096" cy="768096"/>
          </a:xfrm>
          <a:prstGeom prst="ellipse">
            <a:avLst/>
          </a:prstGeom>
          <a:solidFill>
            <a:srgbClr val="0F1B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17520" y="2103120"/>
            <a:ext cx="768096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N2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0" y="2103120"/>
            <a:ext cx="768096" cy="768096"/>
          </a:xfrm>
          <a:prstGeom prst="ellipse">
            <a:avLst/>
          </a:prstGeom>
          <a:solidFill>
            <a:srgbClr val="0F1B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0" y="2103120"/>
            <a:ext cx="768096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N3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2011680" y="1719072"/>
            <a:ext cx="10972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C2E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vod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023360" y="1719072"/>
            <a:ext cx="10972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2A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transf.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48640" y="3063240"/>
            <a:ext cx="57607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Matrica incidencije A (grane × čvorovi): +1 gdje grana počinje, -1 gdje završava.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48640" y="356616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0F1B3C"/>
          </a:solidFill>
        </p:spPr>
      </p:sp>
      <p:sp>
        <p:nvSpPr>
          <p:cNvPr id="17" name="Text 14"/>
          <p:cNvSpPr/>
          <p:nvPr/>
        </p:nvSpPr>
        <p:spPr>
          <a:xfrm>
            <a:off x="777240" y="3675888"/>
            <a:ext cx="4937760" cy="1234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7E8EA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y_serija = 1 / (R1 + jX1)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7E8EA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Ybus(i,i) += y_serija + y_shunt/2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7E8EA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Ybus(i,j) -= y_serija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583680" y="3063240"/>
            <a:ext cx="5029200" cy="3017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F1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dense::DblMatrix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Matrica incidencije — mala, gusto popunjena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F1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sparse::ICmplxMatrix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Ybus — kompleksna, uglavnom nule, gradi se preko addTriple(i, j, vrijednost)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SREES 2026 — Distribution Network Modeler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F2A93B"/>
          </a:solidFill>
        </p:spPr>
      </p:sp>
      <p:pic>
        <p:nvPicPr>
          <p:cNvPr id="3" name="Image 0" descr="/home/claude/pptx/icon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38912"/>
            <a:ext cx="10180015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13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Trofazni (ABC) model — nesimetrija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508760"/>
            <a:ext cx="5486400" cy="1280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F1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Svaki čvor → 3 faze (A, B, C)  ⇒  Ybus postaje 3N × 3N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60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Fazna impedansa se izvodi iz direktne (Z1) i nulte (Z0) sekvence koje već postoje u katalogu voda: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788920"/>
            <a:ext cx="5486400" cy="1051560"/>
          </a:xfrm>
          <a:prstGeom prst="roundRect">
            <a:avLst>
              <a:gd name="adj" fmla="val 5217"/>
            </a:avLst>
          </a:prstGeom>
          <a:solidFill>
            <a:srgbClr val="0F1B3C"/>
          </a:solidFill>
        </p:spPr>
      </p:sp>
      <p:sp>
        <p:nvSpPr>
          <p:cNvPr id="7" name="Text 4"/>
          <p:cNvSpPr/>
          <p:nvPr/>
        </p:nvSpPr>
        <p:spPr>
          <a:xfrm>
            <a:off x="777240" y="2880360"/>
            <a:ext cx="502920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E8EA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Zs = (Z0 + 2·Z1) / 3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E8EA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Zm = (Z0 - Z1) / 3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3977640"/>
            <a:ext cx="548640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Kada je vod simetričan (Z0=Z1) ⇒ Zm=0 ⇒ faze se razdvajaju. Nesimetrija dolazi iz Z0≠Z1 i neravnomjernog opterećenja po fazama.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92240" y="1097280"/>
            <a:ext cx="2743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3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Z_ABC =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537960" y="1600200"/>
            <a:ext cx="1362456" cy="1362456"/>
          </a:xfrm>
          <a:prstGeom prst="rect">
            <a:avLst/>
          </a:prstGeom>
          <a:solidFill>
            <a:srgbClr val="0E7C8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00200"/>
            <a:ext cx="1362456" cy="1362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Zs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955280" y="1600200"/>
            <a:ext cx="1362456" cy="1362456"/>
          </a:xfrm>
          <a:prstGeom prst="rect">
            <a:avLst/>
          </a:prstGeom>
          <a:solidFill>
            <a:srgbClr val="DCEAE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955280" y="1600200"/>
            <a:ext cx="1362456" cy="1362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B3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Zm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9372600" y="1600200"/>
            <a:ext cx="1362456" cy="1362456"/>
          </a:xfrm>
          <a:prstGeom prst="rect">
            <a:avLst/>
          </a:prstGeom>
          <a:solidFill>
            <a:srgbClr val="DCEAE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72600" y="1600200"/>
            <a:ext cx="1362456" cy="1362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B3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Zm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537960" y="3017520"/>
            <a:ext cx="1362456" cy="1362456"/>
          </a:xfrm>
          <a:prstGeom prst="rect">
            <a:avLst/>
          </a:prstGeom>
          <a:solidFill>
            <a:srgbClr val="DCEAE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017520"/>
            <a:ext cx="1362456" cy="1362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B3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Zm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7955280" y="3017520"/>
            <a:ext cx="1362456" cy="1362456"/>
          </a:xfrm>
          <a:prstGeom prst="rect">
            <a:avLst/>
          </a:prstGeom>
          <a:solidFill>
            <a:srgbClr val="0E7C8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55280" y="3017520"/>
            <a:ext cx="1362456" cy="1362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Zs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9372600" y="3017520"/>
            <a:ext cx="1362456" cy="1362456"/>
          </a:xfrm>
          <a:prstGeom prst="rect">
            <a:avLst/>
          </a:prstGeom>
          <a:solidFill>
            <a:srgbClr val="DCEAE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372600" y="3017520"/>
            <a:ext cx="1362456" cy="1362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B3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Zm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537960" y="4434840"/>
            <a:ext cx="1362456" cy="1362456"/>
          </a:xfrm>
          <a:prstGeom prst="rect">
            <a:avLst/>
          </a:prstGeom>
          <a:solidFill>
            <a:srgbClr val="DCEAE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37960" y="4434840"/>
            <a:ext cx="1362456" cy="1362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B3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Zm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7955280" y="4434840"/>
            <a:ext cx="1362456" cy="1362456"/>
          </a:xfrm>
          <a:prstGeom prst="rect">
            <a:avLst/>
          </a:prstGeom>
          <a:solidFill>
            <a:srgbClr val="DCEAE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955280" y="4434840"/>
            <a:ext cx="1362456" cy="1362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B3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Zm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9372600" y="4434840"/>
            <a:ext cx="1362456" cy="1362456"/>
          </a:xfrm>
          <a:prstGeom prst="rect">
            <a:avLst/>
          </a:prstGeom>
          <a:solidFill>
            <a:srgbClr val="0E7C8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372600" y="4434840"/>
            <a:ext cx="1362456" cy="1362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Zs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6537960" y="1252728"/>
            <a:ext cx="1362456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227064" y="1600200"/>
            <a:ext cx="274320" cy="1362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955280" y="1252728"/>
            <a:ext cx="1362456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227064" y="3017520"/>
            <a:ext cx="274320" cy="1362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372600" y="1252728"/>
            <a:ext cx="1362456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227064" y="4434840"/>
            <a:ext cx="274320" cy="1362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SREES 2026 — Distribution Network Modeler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0F1B3C"/>
          </a:solidFill>
        </p:spPr>
      </p:sp>
      <p:pic>
        <p:nvPicPr>
          <p:cNvPr id="3" name="Image 0" descr="/home/claude/pptx/icon_pal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38912"/>
            <a:ext cx="10180015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13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Grafički prikaz — OpenDraw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61264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effectLst>
            <a:outerShdw blurRad="63500" dist="25400" dir="5400000" algn="bl" rotWithShape="0">
              <a:srgbClr val="1B2A4A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600200"/>
            <a:ext cx="24688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7C8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gui::Canvas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3291840" y="1600200"/>
            <a:ext cx="329184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Bazna klasa za crtanje, override onDraw(rect)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377440"/>
            <a:ext cx="61264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effectLst>
            <a:outerShdw blurRad="63500" dist="25400" dir="5400000" algn="bl" rotWithShape="0">
              <a:srgbClr val="1B2A4A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2377440"/>
            <a:ext cx="24688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7C8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gui::Symbol(":bus")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3291840" y="2377440"/>
            <a:ext cx="329184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Gotov simbol sabirnice iz natID biblioteke Common/Symbols/PSA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3154680"/>
            <a:ext cx="61264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effectLst>
            <a:outerShdw blurRad="63500" dist="25400" dir="5400000" algn="bl" rotWithShape="0">
              <a:srgbClr val="1B2A4A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31520" y="3154680"/>
            <a:ext cx="24688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7C8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gui::Symbol(":Xfmr2")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3291840" y="3154680"/>
            <a:ext cx="329184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Simbol dvonamotajnog transformatora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3931920"/>
            <a:ext cx="61264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effectLst>
            <a:outerShdw blurRad="63500" dist="25400" dir="5400000" algn="bl" rotWithShape="0">
              <a:srgbClr val="1B2A4A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31520" y="3931920"/>
            <a:ext cx="24688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7C8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gui::Shape::drawLine()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3291840" y="3931920"/>
            <a:ext cx="329184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Crtanje grana — plava linija (vod), isprekidana narandžasta (transformator)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709160"/>
            <a:ext cx="61264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effectLst>
            <a:outerShdw blurRad="63500" dist="25400" dir="5400000" algn="bl" rotWithShape="0">
              <a:srgbClr val="1B2A4A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31520" y="4709160"/>
            <a:ext cx="24688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7C8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onPrimaryButtonPressed()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3291840" y="4709160"/>
            <a:ext cx="329184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Hvatanje klika miša + InputDevice::getModelPoint() za koordinate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040880" y="1600200"/>
            <a:ext cx="4572000" cy="3931920"/>
          </a:xfrm>
          <a:prstGeom prst="roundRect">
            <a:avLst>
              <a:gd name="adj" fmla="val 1628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73568" y="3584448"/>
            <a:ext cx="877824" cy="0"/>
          </a:xfrm>
          <a:prstGeom prst="line">
            <a:avLst/>
          </a:prstGeom>
          <a:noFill/>
          <a:ln w="38100">
            <a:solidFill>
              <a:srgbClr val="0F1B3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436608" y="3584448"/>
            <a:ext cx="877824" cy="0"/>
          </a:xfrm>
          <a:prstGeom prst="line">
            <a:avLst/>
          </a:prstGeom>
          <a:noFill/>
          <a:ln w="38100">
            <a:solidFill>
              <a:srgbClr val="F2A93B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>
            <a:off x="7680960" y="3291840"/>
            <a:ext cx="585216" cy="585216"/>
          </a:xfrm>
          <a:prstGeom prst="ellipse">
            <a:avLst/>
          </a:prstGeom>
          <a:solidFill>
            <a:srgbClr val="0E7C86"/>
          </a:solidFill>
          <a:ln w="19050">
            <a:solidFill>
              <a:srgbClr val="0F1B3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144000" y="3291840"/>
            <a:ext cx="585216" cy="585216"/>
          </a:xfrm>
          <a:prstGeom prst="ellipse">
            <a:avLst/>
          </a:prstGeom>
          <a:solidFill>
            <a:srgbClr val="0E7C86"/>
          </a:solidFill>
          <a:ln w="19050">
            <a:solidFill>
              <a:srgbClr val="0F1B3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607040" y="3291840"/>
            <a:ext cx="585216" cy="585216"/>
          </a:xfrm>
          <a:prstGeom prst="ellipse">
            <a:avLst/>
          </a:prstGeom>
          <a:solidFill>
            <a:srgbClr val="0E7C86"/>
          </a:solidFill>
          <a:ln w="19050">
            <a:solidFill>
              <a:srgbClr val="0F1B3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710928" y="3419856"/>
            <a:ext cx="329184" cy="329184"/>
          </a:xfrm>
          <a:prstGeom prst="rect">
            <a:avLst/>
          </a:prstGeom>
          <a:solidFill>
            <a:srgbClr val="F2A93B"/>
          </a:solidFill>
          <a:ln w="19050">
            <a:solidFill>
              <a:srgbClr val="0F1B3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406640" y="3968496"/>
            <a:ext cx="1133856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8138160" y="2926080"/>
            <a:ext cx="8229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F1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vod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235440" y="2926080"/>
            <a:ext cx="14630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2A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transformator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223760" y="4846320"/>
            <a:ext cx="42062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Klik → čvor. Klik-klik → grana (tip iz kataloga).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SREES 2026 — Distribution Network Modeler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F2A93B"/>
          </a:solidFill>
        </p:spPr>
      </p:sp>
      <p:pic>
        <p:nvPicPr>
          <p:cNvPr id="3" name="Image 0" descr="/home/claude/pptx/icon_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38912"/>
            <a:ext cx="10180015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914400" y="1737360"/>
            <a:ext cx="10332720" cy="731520"/>
          </a:xfrm>
          <a:prstGeom prst="roundRect">
            <a:avLst>
              <a:gd name="adj" fmla="val 10000"/>
            </a:avLst>
          </a:prstGeom>
          <a:solidFill>
            <a:srgbClr val="1C2E5C"/>
          </a:solidFill>
        </p:spPr>
      </p:sp>
      <p:sp>
        <p:nvSpPr>
          <p:cNvPr id="6" name="Text 3"/>
          <p:cNvSpPr/>
          <p:nvPr/>
        </p:nvSpPr>
        <p:spPr>
          <a:xfrm>
            <a:off x="1234440" y="1737360"/>
            <a:ext cx="96926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Katalog opreme — dodaj vod i transformator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2697480"/>
            <a:ext cx="10332720" cy="731520"/>
          </a:xfrm>
          <a:prstGeom prst="roundRect">
            <a:avLst>
              <a:gd name="adj" fmla="val 10000"/>
            </a:avLst>
          </a:prstGeom>
          <a:solidFill>
            <a:srgbClr val="1C2E5C"/>
          </a:solidFill>
        </p:spPr>
      </p:sp>
      <p:sp>
        <p:nvSpPr>
          <p:cNvPr id="8" name="Text 5"/>
          <p:cNvSpPr/>
          <p:nvPr/>
        </p:nvSpPr>
        <p:spPr>
          <a:xfrm>
            <a:off x="1234440" y="2697480"/>
            <a:ext cx="96926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Mreža — osvježi katalog, dodaj 3 čvora klikom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914400" y="3657600"/>
            <a:ext cx="10332720" cy="731520"/>
          </a:xfrm>
          <a:prstGeom prst="roundRect">
            <a:avLst>
              <a:gd name="adj" fmla="val 10000"/>
            </a:avLst>
          </a:prstGeom>
          <a:solidFill>
            <a:srgbClr val="1C2E5C"/>
          </a:solidFill>
        </p:spPr>
      </p:sp>
      <p:sp>
        <p:nvSpPr>
          <p:cNvPr id="10" name="Text 7"/>
          <p:cNvSpPr/>
          <p:nvPr/>
        </p:nvSpPr>
        <p:spPr>
          <a:xfrm>
            <a:off x="1234440" y="3657600"/>
            <a:ext cx="96926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Poveži granom — vod, pa transformator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914400" y="4617720"/>
            <a:ext cx="10332720" cy="731520"/>
          </a:xfrm>
          <a:prstGeom prst="roundRect">
            <a:avLst>
              <a:gd name="adj" fmla="val 10000"/>
            </a:avLst>
          </a:prstGeom>
          <a:solidFill>
            <a:srgbClr val="1C2E5C"/>
          </a:solidFill>
        </p:spPr>
      </p:sp>
      <p:sp>
        <p:nvSpPr>
          <p:cNvPr id="12" name="Text 9"/>
          <p:cNvSpPr/>
          <p:nvPr/>
        </p:nvSpPr>
        <p:spPr>
          <a:xfrm>
            <a:off x="1234440" y="4617720"/>
            <a:ext cx="96926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 Prikaži Ybus — trofazna 3N×3N matrica uživo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0E7C86"/>
          </a:solidFill>
        </p:spPr>
      </p:sp>
      <p:pic>
        <p:nvPicPr>
          <p:cNvPr id="3" name="Image 0" descr="/home/claude/pptx/icon_bu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38912"/>
            <a:ext cx="10180015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13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Zaključak i dalji razvoj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5120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Urađeno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292608" cy="292608"/>
          </a:xfrm>
          <a:prstGeom prst="ellipse">
            <a:avLst/>
          </a:prstGeom>
          <a:solidFill>
            <a:srgbClr val="0E7C86"/>
          </a:solidFill>
        </p:spPr>
      </p:sp>
      <p:pic>
        <p:nvPicPr>
          <p:cNvPr id="7" name="Image 1" descr="/home/claude/pptx/icon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866" y="1944746"/>
            <a:ext cx="152156" cy="1521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60120" y="1847088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Katalog opreme sa CSV perzistencijom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548640" y="2377440"/>
            <a:ext cx="292608" cy="292608"/>
          </a:xfrm>
          <a:prstGeom prst="ellipse">
            <a:avLst/>
          </a:prstGeom>
          <a:solidFill>
            <a:srgbClr val="0E7C86"/>
          </a:solidFill>
        </p:spPr>
      </p:sp>
      <p:pic>
        <p:nvPicPr>
          <p:cNvPr id="10" name="Image 2" descr="/home/claude/pptx/icon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866" y="2447666"/>
            <a:ext cx="152156" cy="1521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0120" y="2350008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Interaktivna izgradnja topologije (OpenDraw)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548640" y="2880360"/>
            <a:ext cx="292608" cy="292608"/>
          </a:xfrm>
          <a:prstGeom prst="ellipse">
            <a:avLst/>
          </a:prstGeom>
          <a:solidFill>
            <a:srgbClr val="0E7C86"/>
          </a:solidFill>
        </p:spPr>
      </p:sp>
      <p:pic>
        <p:nvPicPr>
          <p:cNvPr id="13" name="Image 3" descr="/home/claude/pptx/icon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866" y="2950586"/>
            <a:ext cx="152156" cy="15215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60120" y="2852928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Trofazna (ABC) Ybus matrica iz sekvencijalnih impedansi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548640" y="3383280"/>
            <a:ext cx="292608" cy="292608"/>
          </a:xfrm>
          <a:prstGeom prst="ellipse">
            <a:avLst/>
          </a:prstGeom>
          <a:solidFill>
            <a:srgbClr val="0E7C86"/>
          </a:solidFill>
        </p:spPr>
      </p:sp>
      <p:pic>
        <p:nvPicPr>
          <p:cNvPr id="16" name="Image 4" descr="/home/claude/pptx/icon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866" y="3453506"/>
            <a:ext cx="152156" cy="15215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60120" y="3355848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natID dense i sparse matrice, GitHub repozitorij, CMake build</a:t>
            </a:r>
            <a:endParaRPr lang="en-US" sz="1250" dirty="0"/>
          </a:p>
        </p:txBody>
      </p:sp>
      <p:sp>
        <p:nvSpPr>
          <p:cNvPr id="18" name="Text 11"/>
          <p:cNvSpPr/>
          <p:nvPr/>
        </p:nvSpPr>
        <p:spPr>
          <a:xfrm>
            <a:off x="6309360" y="1417320"/>
            <a:ext cx="5120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93B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Dalji razvoj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309360" y="1901952"/>
            <a:ext cx="256032" cy="256032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20" name="Text 13"/>
          <p:cNvSpPr/>
          <p:nvPr/>
        </p:nvSpPr>
        <p:spPr>
          <a:xfrm>
            <a:off x="6720840" y="1847088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Proračun tokova snage (nesimetrično opterećenje po fazama)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6309360" y="2404872"/>
            <a:ext cx="256032" cy="256032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22" name="Text 15"/>
          <p:cNvSpPr/>
          <p:nvPr/>
        </p:nvSpPr>
        <p:spPr>
          <a:xfrm>
            <a:off x="6720840" y="2350008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Nulta sekvenca transformatora po grupi spoja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6309360" y="2907792"/>
            <a:ext cx="256032" cy="256032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24" name="Text 17"/>
          <p:cNvSpPr/>
          <p:nvPr/>
        </p:nvSpPr>
        <p:spPr>
          <a:xfrm>
            <a:off x="6720840" y="2852928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Izmjena/brisanje čvorova i grana na platnu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6309360" y="3410712"/>
            <a:ext cx="256032" cy="256032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26" name="Text 19"/>
          <p:cNvSpPr/>
          <p:nvPr/>
        </p:nvSpPr>
        <p:spPr>
          <a:xfrm>
            <a:off x="6720840" y="3355848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1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Perzistencija cijele mreže u fajl</a:t>
            </a:r>
            <a:endParaRPr lang="en-US" sz="1250" dirty="0"/>
          </a:p>
        </p:txBody>
      </p:sp>
      <p:sp>
        <p:nvSpPr>
          <p:cNvPr id="27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SREES 2026 — Distribution Network Modeler</a:t>
            </a:r>
            <a:endParaRPr lang="en-US" sz="1000" dirty="0"/>
          </a:p>
        </p:txBody>
      </p:sp>
      <p:sp>
        <p:nvSpPr>
          <p:cNvPr id="28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4572000" cy="4572000"/>
          </a:xfrm>
          <a:prstGeom prst="ellipse">
            <a:avLst/>
          </a:prstGeom>
          <a:solidFill>
            <a:srgbClr val="1C2E5C"/>
          </a:solidFill>
        </p:spPr>
      </p:sp>
      <p:sp>
        <p:nvSpPr>
          <p:cNvPr id="3" name="Shape 1"/>
          <p:cNvSpPr/>
          <p:nvPr/>
        </p:nvSpPr>
        <p:spPr>
          <a:xfrm>
            <a:off x="9905695" y="4572000"/>
            <a:ext cx="3657600" cy="3657600"/>
          </a:xfrm>
          <a:prstGeom prst="ellipse">
            <a:avLst/>
          </a:prstGeom>
          <a:solidFill>
            <a:srgbClr val="0E7C86">
              <a:alpha val="20000"/>
            </a:srgbClr>
          </a:solidFill>
        </p:spPr>
      </p:sp>
      <p:sp>
        <p:nvSpPr>
          <p:cNvPr id="4" name="Shape 2"/>
          <p:cNvSpPr/>
          <p:nvPr/>
        </p:nvSpPr>
        <p:spPr>
          <a:xfrm>
            <a:off x="5592928" y="2011680"/>
            <a:ext cx="1005840" cy="1005840"/>
          </a:xfrm>
          <a:prstGeom prst="ellipse">
            <a:avLst/>
          </a:prstGeom>
          <a:solidFill>
            <a:srgbClr val="F2A93B"/>
          </a:solidFill>
        </p:spPr>
      </p:sp>
      <p:pic>
        <p:nvPicPr>
          <p:cNvPr id="5" name="Image 0" descr="/home/claude/pptx/icon_ques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2253082"/>
            <a:ext cx="523037" cy="52303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3291840"/>
            <a:ext cx="12191695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Hvala na pažnji!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B9C6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Pitanja?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1156</Words>
  <Application>Microsoft Office PowerPoint</Application>
  <PresentationFormat>Široki zaslon</PresentationFormat>
  <Paragraphs>151</Paragraphs>
  <Slides>11</Slides>
  <Notes>11</Notes>
  <HiddenSlides>0</HiddenSlides>
  <MMClips>0</MMClips>
  <ScaleCrop>false</ScaleCrop>
  <HeadingPairs>
    <vt:vector size="6" baseType="variant">
      <vt:variant>
        <vt:lpstr>Korišteni fontovi</vt:lpstr>
      </vt:variant>
      <vt:variant>
        <vt:i4>4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Modelovanje trofazne nesimetricne distributivne mreze</dc:title>
  <dc:subject>PptxGenJS Presentation</dc:subject>
  <dc:creator>Namik Jamak</dc:creator>
  <cp:lastModifiedBy>Namik Jamak</cp:lastModifiedBy>
  <cp:revision>6</cp:revision>
  <dcterms:created xsi:type="dcterms:W3CDTF">2026-07-06T21:46:00Z</dcterms:created>
  <dcterms:modified xsi:type="dcterms:W3CDTF">2026-07-09T10:20:27Z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9D5500B745A44B758E32A6F02DC9AD71_12</vt:lpwstr>
  </property>
</Properties>
</file>