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Pozdrav, ja sam Namik Jamak. Predstavicu vam projekat: GUI aplikaciju za modelovanje trofazne nesimetricne distributivne mreze, razvijenu u natID C++ frameworku. (5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Cetiri glavna cilja: katalog opreme, graficko kreiranje topologije, pravi trofazni ABC model umjesto pojednostavljenog jednofaznog, i matematicki model kroz matricu incidencije i Ybus. (20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natID je C++ framework koji koristimo za GUI, dense i sparse matrice, i OpenDraw crtanje. Slojevita arhitektura: nas kod koristi gui i matrix biblioteke koje se oslanjaju na mainUtils i native OS sloj. (25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 modula: CatalogModel za tipove opreme, network za topologiju i matematicki model, i gui sloj koji ih povezuje kroz dva taba koja dijele isti katalog. (20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Prvi tab aplikacije - unos kataloga. Vidite formu za unos vodova i transformatora, sa CSV cuvanjem i test dugmetom za brzu provjeru Ybus proracuna. (20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Drugi tab - graficko kreiranje mreze. Klikom postavljam sabirnice, biram tip grane iz kataloga i povezujem cvorove. natID gui::Canvas i gotovi simboli (bus, Xfmr2) iz Common/Symbols/PSA biblioteke. (25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 svaku granu racunamo seriju admitansu iz R1,X1, i standardnom formulom punimo Ybus matricu. Matrica incidencije koristi dense::DblMatrix, a Ybus sparse::ICmplxMatrix preko addTriple poziva. Ovo je jednofazni ekvivalent, provjera prije prelaska na trofazni model. (25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srz projekta - pravi trofazni model. Svaki cvor sada ima tri faze, pa Ybus postaje 3N puta 3N, sastavljena od ovakvih 3 puta 3 blokova. Impedansu izvodimo iz direktne i nulte sekvence koje vec imamo u katalogu, standardnom formulom simetricnih komponenti. Kada je vod simetrican, faze se razdvajaju - nesimetrija tada dolazi od neravnomjernog opterecenja po fazama. (35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Ugradnja 3x3 bloka u punu matricu ide analogno jednofaznom slucaju, po paru faza. Koristimo sparse matricu jer je Ybus rijetko popunjena - svaki cvor je povezan samo sa susjedima. Ovo je stvarni kod iz Network::buildYbus3Phase metode. (20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Graficki prikaz koristi natID OpenDraw mehanizam - gui::Canvas, gui::Shape za linije i gotove gui::Symbol resurse za sabirnicu i transformator direktno iz natID biblioteke elektroenergetskih simbola. (20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Sada cu vam pokazati aplikaciju uzivo: dodajem tip voda i transformatora u katalog, prelazim na tab mreza, postavljam tri cvora klikom, povezujem ih vodom i transformatorom, i na kraju prikazujem stvarno izgradjenu trofaznu Ybus matricu. (90 sekundi - ziva demonstracija)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rezimiram - uradili smo katalog, interaktivnu topologiju i pravi trofazni model sa natID dense/sparse matricama. Dalji koraci su proracun tokova snage i preciznije modelovanje transformatora po grupi spoja. (20 sekundi)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Hvala na paznji, spreman sam za pitanja.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572000" cy="4572000"/>
          </a:xfrm>
          <a:prstGeom prst="ellipse">
            <a:avLst/>
          </a:prstGeom>
          <a:solidFill>
            <a:srgbClr val="1C2E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4480560"/>
            <a:ext cx="3291840" cy="329184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x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aplikacija za modelovanje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trofazne nesimetrične distributivne mreže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opreme  •  Topologija mreže  •  Trofazna Ybus matrica  •  natID framework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4709160"/>
            <a:ext cx="2743200" cy="0"/>
          </a:xfrm>
          <a:prstGeom prst="line">
            <a:avLst/>
          </a:prstGeom>
          <a:noFill/>
          <a:ln w="25400">
            <a:solidFill>
              <a:srgbClr val="12A5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37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Namik Jamak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Projekat iz predmeta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Repozitorij: SREES_2026_Jamak_GUIaplikacija_DNM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home/claude/pptx/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Cilj projekta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819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Katalog opreme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0391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i čuvanje tipova vodova i transformatora sa realnim tehničkim parametrima.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14173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5819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Topologija mreže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55080" y="20391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Grafičko kreiranje mreže — čvorovi i grane, klikom miša na platnu.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5935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Trofazni model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960" y="405079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 ABC (fazni) model — ne pojednostavljeni jednofazni ekvivalent.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80760" y="34290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35935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Matematički model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55080" y="405079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Matrica incidencije i Ybus admitantna matrica, iz natID dense/sparse matrica.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" name="Image 0" descr="/home/claude/pptx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Tehnologije — natID framework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(Native Interface Design)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framework za GUI aplikacije koje se kompajliraju nativno na macOS, Windows i Linux, koristeći native komponente svake platforme.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990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gui::Application / gui::Window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 GUI hijerarhija, tabovi (StandardTabView)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82219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dense::Matrix&lt;T&gt;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9593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Guste matrice — matrica incidencije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5354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4165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sparse::IMatrix&lt;INDEX,TVAL&gt;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6725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Rijetke matrice — Ybus admitantna matrica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24865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129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gui::Canvas / gui::Symbol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5385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OpenDraw crtanje i biblioteka simbola (bus, transformator...)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1463040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29400" y="14630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— natGUI biblioteka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2587752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12A5A5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629400" y="258775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sparse — Matrix biblioteka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0" y="3712464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1C2E5C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29400" y="3712464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— mainUtils (td::String, Variant...)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837176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29400" y="483717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OS layer (Cocoa / GTK4)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pptx/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Arhitektura sistema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69164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69164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E7C86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2011680"/>
            <a:ext cx="3429000" cy="274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CatalogModel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LineType · TransformerType · EquipmentCatalog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33088" y="2724912"/>
            <a:ext cx="292608" cy="219456"/>
          </a:xfrm>
          <a:prstGeom prst="rightArrow">
            <a:avLst/>
          </a:prstGeom>
          <a:solidFill>
            <a:srgbClr val="5B6B82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69164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169164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1C2E5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2011680"/>
            <a:ext cx="3429000" cy="274320"/>
          </a:xfrm>
          <a:prstGeom prst="rect">
            <a:avLst/>
          </a:prstGeom>
          <a:solidFill>
            <a:srgbClr val="1C2E5C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17720" y="2468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Branch · Network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882128" y="2724912"/>
            <a:ext cx="292608" cy="219456"/>
          </a:xfrm>
          <a:prstGeom prst="rightArrow">
            <a:avLst/>
          </a:prstGeom>
          <a:solidFill>
            <a:srgbClr val="5B6B82"/>
          </a:solidFill>
          <a:ln/>
        </p:spPr>
      </p:sp>
      <p:sp>
        <p:nvSpPr>
          <p:cNvPr id="17" name="Shape 14"/>
          <p:cNvSpPr/>
          <p:nvPr/>
        </p:nvSpPr>
        <p:spPr>
          <a:xfrm>
            <a:off x="8183880" y="169164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83880" y="169164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F2A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8183880" y="2011680"/>
            <a:ext cx="342900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366760" y="2468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MainWindow · ViewCatalog · ViewNetworkPanel/Canvas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8580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i mreža dijele istu instancu EquipmentCatalog (po referenci) — GUI oba modula gradi na istim podacima.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home/claude/pptx/ic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Katalog opreme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23560" y="1600200"/>
            <a:ext cx="6181344" cy="3121945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6" name="Image 1" descr="/home/claude/pptx/screenshot_kat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673352"/>
            <a:ext cx="6035040" cy="29756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60020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LineType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X1, B1 (direktna sekvenca), R0, X0 (nulta sekvenca), Irated, Urated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TransformerType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Sn, Up, Us, Uk%, gubici (Pcu, Pfe), grupa spoja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EquipmentCatalog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operacije + snimanje/učitavanje u CSV formatu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" name="Image 0" descr="/home/claude/pptx/icon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Topologija mreže — interaktivno platno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94960" y="1737360"/>
            <a:ext cx="6455664" cy="2932316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6" name="Image 1" descr="/home/claude/pptx/screenshot_mrez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810512"/>
            <a:ext cx="6309360" cy="27860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05840" y="16733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čvor — klik na platno postavlja sabirnicu (bus simbol)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5000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05840" y="2331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Poveži granom — odabir tipa iz kataloga, pa klik na dva čvora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05840" y="2990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 = plava linija · Transformator = simbol + isprekidana linija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66744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05840" y="36484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Prikaži Ybus — gradi maticu iz stvarno nacrtane mreže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home/claude/pptx/icon_sq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Matematički model — matrica incidencije i Ybus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89888" y="2487168"/>
            <a:ext cx="1243584" cy="0"/>
          </a:xfrm>
          <a:prstGeom prst="line">
            <a:avLst/>
          </a:prstGeom>
          <a:noFill/>
          <a:ln w="31750">
            <a:solidFill>
              <a:srgbClr val="1C2E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1568" y="2487168"/>
            <a:ext cx="1243584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005840" y="2103120"/>
            <a:ext cx="768096" cy="768096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103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17520" y="2103120"/>
            <a:ext cx="768096" cy="768096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0" y="2103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2103120"/>
            <a:ext cx="768096" cy="768096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103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1168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063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Matrica incidencije A (grane × čvorovi): +1 gdje grana počinje, -1 gdje završava.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F1B3C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67588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y_serija = 1 / (R1 + jX1)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Ybus(i,i) += y_serija + y_shunt/2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Ybus(i,j) -= y_serija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0" y="30632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dense::DblMatrix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Matrica incidencije — mala, gusto popunjena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sparse::ICmplxMatrix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Ybus — kompleksna, uglavnom nule, gradi se preko addTriple(i, j, vrijednost)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pptx/ic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Trofazni (ABC) model — nesimetrija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čvor → 3 faze (A, B, C)  ⇒  Ybus postaje 3N × 3N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Fazna impedansa se izvodi iz direktne (Z1) i nulte (Z0) sekvence koje već postoje u katalogu voda: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0F1B3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880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 = (Z0 + 2·Z1) / 3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 = (Z0 - Z1) / 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 je vod simetričan (Z0=Z1) ⇒ Zm=0 ⇒ faze se razdvajaju. Nesimetrija dolazi iz Z0≠Z1 i neravnomjernog opterećenja po fazama.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922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Z_ABC =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37960" y="1600200"/>
            <a:ext cx="1362456" cy="1362456"/>
          </a:xfrm>
          <a:prstGeom prst="rect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60020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955280" y="1600200"/>
            <a:ext cx="1362456" cy="1362456"/>
          </a:xfrm>
          <a:prstGeom prst="rect">
            <a:avLst/>
          </a:prstGeom>
          <a:solidFill>
            <a:srgbClr val="DC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160020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372600" y="1600200"/>
            <a:ext cx="1362456" cy="1362456"/>
          </a:xfrm>
          <a:prstGeom prst="rect">
            <a:avLst/>
          </a:prstGeom>
          <a:solidFill>
            <a:srgbClr val="DC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72600" y="160020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537960" y="3017520"/>
            <a:ext cx="1362456" cy="1362456"/>
          </a:xfrm>
          <a:prstGeom prst="rect">
            <a:avLst/>
          </a:prstGeom>
          <a:solidFill>
            <a:srgbClr val="DC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01752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955280" y="3017520"/>
            <a:ext cx="1362456" cy="1362456"/>
          </a:xfrm>
          <a:prstGeom prst="rect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301752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372600" y="3017520"/>
            <a:ext cx="1362456" cy="1362456"/>
          </a:xfrm>
          <a:prstGeom prst="rect">
            <a:avLst/>
          </a:prstGeom>
          <a:solidFill>
            <a:srgbClr val="DC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72600" y="301752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537960" y="4434840"/>
            <a:ext cx="1362456" cy="1362456"/>
          </a:xfrm>
          <a:prstGeom prst="rect">
            <a:avLst/>
          </a:prstGeom>
          <a:solidFill>
            <a:srgbClr val="DC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443484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7955280" y="4434840"/>
            <a:ext cx="1362456" cy="1362456"/>
          </a:xfrm>
          <a:prstGeom prst="rect">
            <a:avLst/>
          </a:prstGeom>
          <a:solidFill>
            <a:srgbClr val="DC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0" y="443484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372600" y="4434840"/>
            <a:ext cx="1362456" cy="1362456"/>
          </a:xfrm>
          <a:prstGeom prst="rect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72600" y="443484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537960" y="12527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27064" y="1600200"/>
            <a:ext cx="27432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955280" y="12527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27064" y="3017520"/>
            <a:ext cx="27432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372600" y="12527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27064" y="4434840"/>
            <a:ext cx="27432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home/claude/pptx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bloka do pune 3N×3N Ybus matrice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0F1B3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69164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(p, q) in {A,B,C} x {A,B,C}: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Ybus(3i+p, 3i+q) += Yabc(p,q)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Ybus(3j+p, 3j+q) += Yabc(p,q)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Ybus(3i+p, 3j+q) -= Yabc(p,q)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Ybus(3j+p, 3i+q) -= Yabc(p,q)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sparse matrica?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čvor je povezan samo sa svojim susjedima — matrica je uglavnom popunjena nulama. sparse::IMatrix skladišti samo ne-nula elemente preko trojki (i, j, vrijednost), umjesto svih 9N² vrijednosti.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2120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691640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sparse::ICmplxMatrix* pYbus =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sparse::createCmplxMatrix(n, n, nz);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pYbus-&gt;addTriple(i, j, vrijednost);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sparse::CmplxMatrixReleaser rel(pYbus);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RAII - automatski release()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4023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Stvarni kod iz projekta: Network::buildYbus3Phase()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" name="Image 0" descr="/home/claude/pptx/icon_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Grafički prikaz — OpenDraw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002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gui::Canvas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291840" y="16002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Bazna klasa za crtanje, override onDraw(rect)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3774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gui::Symbol(":bus")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91840" y="23774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Gotov simbol sabirnice iz natID biblioteke Common/Symbols/PSA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3154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gui::Symbol(":Xfmr2")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291840" y="31546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 dvonamotajnog transformatora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39319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gui::Shape::drawLine()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291840" y="39319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Crtanje grana — plava linija (vod), isprekidana narandžasta (transformator)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709160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4709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onPrimaryButtonPressed()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91840" y="47091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Hvatanje klika miša + InputDevice::getModelPoint() za koordinate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040880" y="1600200"/>
            <a:ext cx="457200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73568" y="3584448"/>
            <a:ext cx="877824" cy="0"/>
          </a:xfrm>
          <a:prstGeom prst="line">
            <a:avLst/>
          </a:prstGeom>
          <a:noFill/>
          <a:ln w="38100">
            <a:solidFill>
              <a:srgbClr val="0F1B3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36608" y="3584448"/>
            <a:ext cx="877824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7680960" y="3291840"/>
            <a:ext cx="585216" cy="585216"/>
          </a:xfrm>
          <a:prstGeom prst="ellipse">
            <a:avLst/>
          </a:prstGeom>
          <a:solidFill>
            <a:srgbClr val="0E7C86"/>
          </a:solidFill>
          <a:ln w="19050">
            <a:solidFill>
              <a:srgbClr val="0F1B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0" y="3291840"/>
            <a:ext cx="585216" cy="585216"/>
          </a:xfrm>
          <a:prstGeom prst="ellipse">
            <a:avLst/>
          </a:prstGeom>
          <a:solidFill>
            <a:srgbClr val="0E7C86"/>
          </a:solidFill>
          <a:ln w="19050">
            <a:solidFill>
              <a:srgbClr val="0F1B3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607040" y="3291840"/>
            <a:ext cx="585216" cy="585216"/>
          </a:xfrm>
          <a:prstGeom prst="ellipse">
            <a:avLst/>
          </a:prstGeom>
          <a:solidFill>
            <a:srgbClr val="0E7C86"/>
          </a:solidFill>
          <a:ln w="19050">
            <a:solidFill>
              <a:srgbClr val="0F1B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10928" y="3419856"/>
            <a:ext cx="329184" cy="329184"/>
          </a:xfrm>
          <a:prstGeom prst="rect">
            <a:avLst/>
          </a:prstGeom>
          <a:solidFill>
            <a:srgbClr val="F2A93B"/>
          </a:solidFill>
          <a:ln w="19050">
            <a:solidFill>
              <a:srgbClr val="0F1B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0" y="39684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138160" y="2926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23544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transformator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4846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→ čvor. Klik-klik → grana (tip iz kataloga).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pptx/icon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173736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C2E5C"/>
          </a:solidFill>
          <a:ln/>
        </p:spPr>
      </p:sp>
      <p:sp>
        <p:nvSpPr>
          <p:cNvPr id="6" name="Text 3"/>
          <p:cNvSpPr/>
          <p:nvPr/>
        </p:nvSpPr>
        <p:spPr>
          <a:xfrm>
            <a:off x="1234440" y="17373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Katalog opreme — dodaj vod i transformator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69748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C2E5C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6974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Mreža — osvježi katalog, dodaj 3 čvora klikom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65760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C2E5C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657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Poveži granom — vod, pa transformator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461772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C2E5C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6177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Prikaži Ybus — trofazna 3N×3N matrica uživo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home/claude/pptx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 i dalji razvoj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Urađeno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1" descr="/home/claude/pptx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66" y="1944746"/>
            <a:ext cx="152156" cy="1521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47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opreme sa CSV perzistencijom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2" descr="/home/claude/pptx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2447666"/>
            <a:ext cx="152156" cy="1521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50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Interaktivna izgradnja topologije (OpenDraw)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288036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3" descr="/home/claude/pptx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2950586"/>
            <a:ext cx="152156" cy="1521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8529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Trofazna (ABC) Ybus matrica iz sekvencijalnih impedansi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338328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4" descr="/home/claude/pptx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6" y="3453506"/>
            <a:ext cx="152156" cy="1521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355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dense i sparse matrice, GitHub repozitorij, CMake build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3093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Dalji razvoj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309360" y="190195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6720840" y="1847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Proračun tokova snage (nesimetrično opterećenje po fazama)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309360" y="240487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5"/>
          <p:cNvSpPr/>
          <p:nvPr/>
        </p:nvSpPr>
        <p:spPr>
          <a:xfrm>
            <a:off x="6720840" y="2350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Nulta sekvenca transformatora po grupi spoja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309360" y="290779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7"/>
          <p:cNvSpPr/>
          <p:nvPr/>
        </p:nvSpPr>
        <p:spPr>
          <a:xfrm>
            <a:off x="6720840" y="28529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Izmjena/brisanje čvorova i grana na platnu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309360" y="341071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19"/>
          <p:cNvSpPr/>
          <p:nvPr/>
        </p:nvSpPr>
        <p:spPr>
          <a:xfrm>
            <a:off x="6720840" y="3355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Perzistencija cijele mreže u fajl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2026 — Distribution Network Modeler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C2E5C"/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45720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201168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x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22530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pažnji!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Modelovanje trofazne nesimetricne distributivne mreze</dc:title>
  <dc:subject>PptxGenJS Presentation</dc:subject>
  <dc:creator>Namik Jamak</dc:creator>
  <cp:lastModifiedBy>Namik Jamak</cp:lastModifiedBy>
  <cp:revision>1</cp:revision>
  <dcterms:created xsi:type="dcterms:W3CDTF">2026-07-06T21:46:18Z</dcterms:created>
  <dcterms:modified xsi:type="dcterms:W3CDTF">2026-07-06T21:46:18Z</dcterms:modified>
</cp:coreProperties>
</file>